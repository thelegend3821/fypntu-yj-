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3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1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C6A42-ADFD-4673-B4C2-0B7F18D74C29}" type="datetimeFigureOut">
              <a:rPr lang="en-SG" smtClean="0"/>
              <a:t>3/8/2021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E649B-75E5-4ED6-8F83-B3FB434C4DF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29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ADFA4-3844-4916-B6E8-8D111840D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0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13E40-8986-4D92-AC1C-B47E77EA6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0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F54B7-C817-4954-8EC2-81EBAA6999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9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734" y="858838"/>
            <a:ext cx="5829300" cy="5514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7234" y="858838"/>
            <a:ext cx="5829300" cy="5514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1494F-3701-48CC-98BF-478473C121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4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05B2-D18C-4DA0-96F2-9AA6FFCEB1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7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DDB7D-BBB3-49EB-AE1B-CE4DF3977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0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912A4-C309-42AE-A973-3012808817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5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AA55C-7F66-4C4A-93E7-4080A7A80F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1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816BF-85FA-4211-A7AB-C46BB1C34F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0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A8BEE-18B1-4974-8392-EC1B3DE614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39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7939"/>
            <a:ext cx="3048000" cy="63658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7939"/>
            <a:ext cx="8940800" cy="6365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7B56C-E130-47A4-9BB9-8B24CD62A7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05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9"/>
            <a:ext cx="12192000" cy="858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94734" y="858838"/>
            <a:ext cx="5829300" cy="551497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27234" y="858838"/>
            <a:ext cx="5829300" cy="5514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5B0BA-D36B-4A78-B4E4-87C1508FF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3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9"/>
            <a:ext cx="12192000" cy="858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4734" y="858838"/>
            <a:ext cx="5829300" cy="5514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7234" y="858838"/>
            <a:ext cx="5829300" cy="5514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A5D6F-AD58-4061-968B-0E2C951BBE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15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9"/>
            <a:ext cx="12192000" cy="858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734" y="858838"/>
            <a:ext cx="5829300" cy="5514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27234" y="858838"/>
            <a:ext cx="5829300" cy="5514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DF8E8-1E29-4B6B-B943-7B6C71F361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2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9"/>
            <a:ext cx="12192000" cy="858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4734" y="858838"/>
            <a:ext cx="5829300" cy="5514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227234" y="858838"/>
            <a:ext cx="5829300" cy="551497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BD4D9-D807-408F-BEE0-804A964F9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80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9"/>
            <a:ext cx="12192000" cy="858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4733" y="858839"/>
            <a:ext cx="11861800" cy="26812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733" y="3692525"/>
            <a:ext cx="11861800" cy="2681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6750B-CF75-4B1C-AECA-D2615472E6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28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9"/>
            <a:ext cx="12192000" cy="858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4734" y="858838"/>
            <a:ext cx="5829300" cy="5514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27234" y="858839"/>
            <a:ext cx="5829300" cy="26812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27234" y="3692525"/>
            <a:ext cx="5829300" cy="2681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20038-03D1-45CE-A3FE-0923D81D1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3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18" descr="PPT-Template Biege"/>
          <p:cNvPicPr>
            <a:picLocks noChangeAspect="1" noChangeArrowheads="1"/>
          </p:cNvPicPr>
          <p:nvPr userDrawn="1"/>
        </p:nvPicPr>
        <p:blipFill>
          <a:blip r:embed="rId19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7939"/>
            <a:ext cx="12192000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4733" y="858838"/>
            <a:ext cx="11861800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038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381750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AFA8ECC-FA00-426C-8D25-8B39F2DFE3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CC0000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rgbClr val="0000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1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6" y="1623263"/>
            <a:ext cx="2018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Power Flow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7" y="2247948"/>
            <a:ext cx="92334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1: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In load flow studies of a power system, a generator bus is specified by,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Real power and reactive power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Reactive power and voltage magnitude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Voltage and voltage phase angle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Real power and voltage magnitude</a:t>
            </a:r>
            <a:endParaRPr lang="en-SG" sz="2200" dirty="0" smtClean="0"/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7824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2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6" y="1623263"/>
            <a:ext cx="2018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Power Flow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2: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Gauss iteration has a faster convergence rate than Gauss-Seidel iteration.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True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False</a:t>
            </a:r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98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3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6" y="1623263"/>
            <a:ext cx="2018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Power Flow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3: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In a load flow study, a PV bus is treated as a PQ bus when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Voltage limit is violated</a:t>
            </a:r>
            <a:endParaRPr lang="en-SG" sz="2200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Active power limit is violated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Phase angle is high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Reactive power limit is violated</a:t>
            </a:r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234711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4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7249" y="1646511"/>
            <a:ext cx="2018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Power Flow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817249" y="2271196"/>
            <a:ext cx="107444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4: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Gauss Seidel iteration has a faster convergence rate than Newton Raphson method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True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False</a:t>
            </a:r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47366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5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5" y="1623263"/>
            <a:ext cx="627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Active </a:t>
            </a:r>
            <a:r>
              <a:rPr lang="en-SG" sz="2400" b="1" u="sng" dirty="0" smtClean="0"/>
              <a:t>Power and </a:t>
            </a:r>
            <a:r>
              <a:rPr lang="en-SG" sz="2400" b="1" u="sng" dirty="0" smtClean="0"/>
              <a:t>Frequency Control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5: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The load frequency control loop is to control the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Active power and reactive power</a:t>
            </a:r>
            <a:endParaRPr lang="en-SG" sz="2200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Reactive power and voltage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Active power and frequency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Voltage and frequency</a:t>
            </a:r>
          </a:p>
          <a:p>
            <a:pPr marL="457200" indent="-457200">
              <a:buFont typeface="+mj-lt"/>
              <a:buAutoNum type="arabicParenR"/>
            </a:pPr>
            <a:endParaRPr lang="en-SG" sz="2200" dirty="0" smtClean="0"/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42146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6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5" y="1623263"/>
            <a:ext cx="627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Active </a:t>
            </a:r>
            <a:r>
              <a:rPr lang="en-SG" sz="2400" b="1" u="sng" dirty="0" smtClean="0"/>
              <a:t>Power and </a:t>
            </a:r>
            <a:r>
              <a:rPr lang="en-SG" sz="2400" b="1" u="sng" dirty="0" smtClean="0"/>
              <a:t>Frequency Control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6: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When there is a sudden load </a:t>
            </a:r>
            <a:r>
              <a:rPr lang="en-SG" sz="2200" u="sng" dirty="0" smtClean="0"/>
              <a:t>increase</a:t>
            </a:r>
            <a:r>
              <a:rPr lang="en-SG" sz="2200" dirty="0" smtClean="0"/>
              <a:t> in the system, the steady-state system frequency is expected to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Remain unchanged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Increase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Decrease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None of the above</a:t>
            </a:r>
          </a:p>
          <a:p>
            <a:pPr marL="457200" indent="-457200">
              <a:buFont typeface="+mj-lt"/>
              <a:buAutoNum type="arabicParenR"/>
            </a:pPr>
            <a:endParaRPr lang="en-SG" sz="2200" dirty="0" smtClean="0"/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412185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7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5" y="1623263"/>
            <a:ext cx="627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Active </a:t>
            </a:r>
            <a:r>
              <a:rPr lang="en-SG" sz="2400" b="1" u="sng" dirty="0" smtClean="0"/>
              <a:t>Power and </a:t>
            </a:r>
            <a:r>
              <a:rPr lang="en-SG" sz="2400" b="1" u="sng" dirty="0" smtClean="0"/>
              <a:t>Frequency Control</a:t>
            </a:r>
            <a:endParaRPr lang="en-SG" sz="2400" b="1" u="sng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1305446" y="2247948"/>
                <a:ext cx="9979201" cy="3908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200" dirty="0" smtClean="0"/>
                  <a:t>Question 7:</a:t>
                </a:r>
              </a:p>
              <a:p>
                <a:endParaRPr lang="en-SG" sz="2200" b="1" i="1" u="sng" dirty="0">
                  <a:solidFill>
                    <a:srgbClr val="FF0000"/>
                  </a:solidFill>
                </a:endParaRPr>
              </a:p>
              <a:p>
                <a:r>
                  <a:rPr lang="en-SG" sz="2200" dirty="0" smtClean="0"/>
                  <a:t>When the turbine-generator is operating under Load Frequency Control (LFC), the change in reference power setting </a:t>
                </a:r>
                <a:r>
                  <a:rPr lang="el-GR" sz="2200" dirty="0" smtClean="0"/>
                  <a:t>Δ</a:t>
                </a:r>
                <a:r>
                  <a:rPr lang="en-SG" sz="2200" dirty="0" err="1" smtClean="0"/>
                  <a:t>P</a:t>
                </a:r>
                <a:r>
                  <a:rPr lang="en-SG" sz="2200" baseline="-25000" dirty="0" err="1" smtClean="0"/>
                  <a:t>ref</a:t>
                </a:r>
                <a:r>
                  <a:rPr lang="en-SG" sz="2200" dirty="0" smtClean="0"/>
                  <a:t> is equal to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SG" sz="2200" dirty="0" smtClean="0"/>
                  <a:t>  0</a:t>
                </a:r>
                <a:endParaRPr lang="en-SG" sz="2200" dirty="0" smtClean="0"/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SG" sz="2200" dirty="0" smtClean="0"/>
                  <a:t> </a:t>
                </a:r>
                <a14:m>
                  <m:oMath xmlns:m="http://schemas.openxmlformats.org/officeDocument/2006/math">
                    <m:r>
                      <a:rPr lang="en-SG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SG" sz="2200" dirty="0" smtClean="0"/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SG" sz="2200" dirty="0" smtClean="0"/>
                  <a:t>Data is insufficient to determine the value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SG" sz="2200" dirty="0" smtClean="0"/>
                  <a:t>None of the above</a:t>
                </a:r>
              </a:p>
              <a:p>
                <a:pPr marL="457200" indent="-457200">
                  <a:buFont typeface="+mj-lt"/>
                  <a:buAutoNum type="arabicParenR"/>
                </a:pPr>
                <a:endParaRPr lang="en-SG" sz="2200" dirty="0" smtClean="0"/>
              </a:p>
              <a:p>
                <a:endParaRPr lang="en-SG" sz="2200" b="1" dirty="0"/>
              </a:p>
              <a:p>
                <a:endParaRPr lang="en-SG" sz="2200" b="1" dirty="0" smtClean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446" y="2247948"/>
                <a:ext cx="9979201" cy="3908762"/>
              </a:xfrm>
              <a:prstGeom prst="rect">
                <a:avLst/>
              </a:prstGeom>
              <a:blipFill>
                <a:blip r:embed="rId2"/>
                <a:stretch>
                  <a:fillRect l="-794" t="-936" r="-5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25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8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6" y="1631012"/>
            <a:ext cx="627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Economic Dispatch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8: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E</a:t>
            </a:r>
            <a:r>
              <a:rPr lang="en-SG" sz="2200" dirty="0" smtClean="0"/>
              <a:t>conomic dispatch states that “</a:t>
            </a:r>
            <a:r>
              <a:rPr lang="en-SG" sz="2200" i="1" dirty="0" smtClean="0">
                <a:solidFill>
                  <a:srgbClr val="FF0000"/>
                </a:solidFill>
              </a:rPr>
              <a:t>all generating units operate at equal incremental cost</a:t>
            </a:r>
            <a:r>
              <a:rPr lang="en-SG" sz="2200" i="1" dirty="0" smtClean="0"/>
              <a:t>”</a:t>
            </a:r>
            <a:r>
              <a:rPr lang="en-SG" sz="2200" dirty="0" smtClean="0"/>
              <a:t> under which operating condition?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/>
              <a:t>N</a:t>
            </a:r>
            <a:r>
              <a:rPr lang="en-SG" sz="2200" dirty="0" smtClean="0"/>
              <a:t>o system losses (lossless)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Light load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With system </a:t>
            </a:r>
            <a:r>
              <a:rPr lang="en-SG" sz="2200" dirty="0"/>
              <a:t>losses (with losses</a:t>
            </a:r>
            <a:r>
              <a:rPr lang="en-SG" sz="2200" dirty="0" smtClean="0"/>
              <a:t>)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Full load</a:t>
            </a:r>
          </a:p>
          <a:p>
            <a:pPr marL="457200" indent="-457200">
              <a:buFont typeface="+mj-lt"/>
              <a:buAutoNum type="arabicParenR"/>
            </a:pPr>
            <a:endParaRPr lang="en-SG" sz="2200" dirty="0" smtClean="0"/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30758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10</a:t>
            </a:r>
            <a:br>
              <a:rPr lang="en-SG" dirty="0" smtClean="0"/>
            </a:br>
            <a:r>
              <a:rPr lang="en-SG" dirty="0" smtClean="0"/>
              <a:t>(Lecture 9 = Quiz)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6" y="1631012"/>
            <a:ext cx="627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Economic Dispatch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10: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Generators under economic dispatch (lossless case) </a:t>
            </a:r>
            <a:r>
              <a:rPr lang="en-SG" sz="2200" u="sng" dirty="0" smtClean="0">
                <a:solidFill>
                  <a:srgbClr val="FF0000"/>
                </a:solidFill>
              </a:rPr>
              <a:t>with violation </a:t>
            </a:r>
            <a:r>
              <a:rPr lang="en-SG" sz="2200" dirty="0" smtClean="0"/>
              <a:t>in generation limits will have equal incremental cost.</a:t>
            </a:r>
            <a:endParaRPr lang="en-SG" sz="2200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True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False</a:t>
            </a:r>
          </a:p>
          <a:p>
            <a:pPr marL="457200" indent="-457200">
              <a:buFont typeface="+mj-lt"/>
              <a:buAutoNum type="arabicParenR"/>
            </a:pPr>
            <a:endParaRPr lang="en-SG" sz="2200" dirty="0" smtClean="0"/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288555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11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6" y="1631012"/>
            <a:ext cx="627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Economic Dispatch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11: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For economic dispatch </a:t>
            </a:r>
            <a:r>
              <a:rPr lang="en-SG" sz="2200" u="sng" dirty="0" smtClean="0">
                <a:solidFill>
                  <a:srgbClr val="FF0000"/>
                </a:solidFill>
              </a:rPr>
              <a:t>with losses</a:t>
            </a:r>
            <a:r>
              <a:rPr lang="en-SG" sz="2200" dirty="0" smtClean="0"/>
              <a:t>, the optimum operation is achieved when 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All generators have equal incremental cost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/>
              <a:t>P</a:t>
            </a:r>
            <a:r>
              <a:rPr lang="en-SG" sz="2200" dirty="0" smtClean="0"/>
              <a:t>roduct of the </a:t>
            </a:r>
            <a:r>
              <a:rPr lang="en-SG" sz="2200" dirty="0"/>
              <a:t>incremental cost times the penalty factor is the same for </a:t>
            </a:r>
            <a:r>
              <a:rPr lang="en-SG" sz="2200" dirty="0" smtClean="0"/>
              <a:t>all generators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All generators have equal penalty factor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None of the above</a:t>
            </a:r>
            <a:endParaRPr lang="en-SG" sz="2200" dirty="0"/>
          </a:p>
          <a:p>
            <a:pPr marL="914400" lvl="1" indent="-457200">
              <a:buFont typeface="+mj-lt"/>
              <a:buAutoNum type="arabicParenR"/>
            </a:pPr>
            <a:endParaRPr lang="en-SG" sz="2200" dirty="0" smtClean="0"/>
          </a:p>
          <a:p>
            <a:pPr marL="457200" indent="-457200">
              <a:buFont typeface="+mj-lt"/>
              <a:buAutoNum type="arabicParenR"/>
            </a:pPr>
            <a:endParaRPr lang="en-SG" sz="2200" dirty="0" smtClean="0"/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99980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91" y="459426"/>
            <a:ext cx="10544557" cy="444398"/>
          </a:xfrm>
        </p:spPr>
        <p:txBody>
          <a:bodyPr/>
          <a:lstStyle/>
          <a:p>
            <a:r>
              <a:rPr lang="en-SG" dirty="0" smtClean="0"/>
              <a:t>EE4530 – </a:t>
            </a:r>
            <a:r>
              <a:rPr lang="en-SG" dirty="0" smtClean="0"/>
              <a:t>Lecture 12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2C01B53-E74F-43AB-8941-B0FFA6CD9EAA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05446" y="1631012"/>
            <a:ext cx="6273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 smtClean="0"/>
              <a:t>Economic Dispatch</a:t>
            </a:r>
            <a:endParaRPr lang="en-SG" sz="2400" b="1" u="sng" baseline="-25000" dirty="0"/>
          </a:p>
        </p:txBody>
      </p:sp>
      <p:sp>
        <p:nvSpPr>
          <p:cNvPr id="23" name="TextBox 22"/>
          <p:cNvSpPr txBox="1"/>
          <p:nvPr/>
        </p:nvSpPr>
        <p:spPr>
          <a:xfrm>
            <a:off x="1305446" y="2247948"/>
            <a:ext cx="99792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200" dirty="0" smtClean="0"/>
              <a:t>Question 12:</a:t>
            </a:r>
          </a:p>
          <a:p>
            <a:endParaRPr lang="en-SG" sz="2200" b="1" i="1" u="sng" dirty="0">
              <a:solidFill>
                <a:srgbClr val="FF0000"/>
              </a:solidFill>
            </a:endParaRPr>
          </a:p>
          <a:p>
            <a:r>
              <a:rPr lang="en-SG" sz="2200" dirty="0" smtClean="0"/>
              <a:t>Economic </a:t>
            </a:r>
            <a:r>
              <a:rPr lang="en-SG" sz="2200" dirty="0"/>
              <a:t>dispatch </a:t>
            </a:r>
            <a:r>
              <a:rPr lang="en-SG" sz="2200" dirty="0" smtClean="0"/>
              <a:t>controller can achieve </a:t>
            </a:r>
            <a:r>
              <a:rPr lang="en-SG" sz="2200" dirty="0"/>
              <a:t>zero steady state frequency error and a fast </a:t>
            </a:r>
            <a:r>
              <a:rPr lang="en-SG" sz="2200" dirty="0" smtClean="0"/>
              <a:t>dynamic response.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True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SG" sz="2200" dirty="0" smtClean="0"/>
              <a:t>False</a:t>
            </a:r>
          </a:p>
          <a:p>
            <a:pPr marL="457200" indent="-457200">
              <a:buFont typeface="+mj-lt"/>
              <a:buAutoNum type="arabicParenR"/>
            </a:pPr>
            <a:endParaRPr lang="en-SG" sz="2200" dirty="0" smtClean="0"/>
          </a:p>
          <a:p>
            <a:endParaRPr lang="en-SG" sz="2200" b="1" dirty="0"/>
          </a:p>
          <a:p>
            <a:endParaRPr lang="en-SG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268126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owerpoint Template Beige Jul 06">
  <a:themeElements>
    <a:clrScheme name="Powerpoint Template Beige Jul 0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owerpoint Template Beige Jul 06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owerpoint Template Beige Jul 0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 Template Beige Jul 06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 Template Beige Jul 06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 Template Beige Jul 06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 Template Beige Jul 06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 Template Beige Jul 06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werpoint Template Beige Jul 06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werpoint Template Beige Jul 06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werpoint Template Beige Jul 06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werpoint Template Beige Jul 06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werpoint Template Beige Jul 06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werpoint Template Beige Jul 06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431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Verdana</vt:lpstr>
      <vt:lpstr>1_Powerpoint Template Beige Jul 06</vt:lpstr>
      <vt:lpstr>EE4530 – Lecture 1</vt:lpstr>
      <vt:lpstr>EE4530 – Lecture 2</vt:lpstr>
      <vt:lpstr>EE4530 – Lecture 3</vt:lpstr>
      <vt:lpstr>EE4530 – Lecture 4</vt:lpstr>
      <vt:lpstr>EE4530 – Lecture 5</vt:lpstr>
      <vt:lpstr>EE4530 – Lecture 6</vt:lpstr>
      <vt:lpstr>EE4530 – Lecture 7</vt:lpstr>
      <vt:lpstr>EE4530 – Lecture 8</vt:lpstr>
      <vt:lpstr>EE4530 – Lecture 10 (Lecture 9 = Quiz)</vt:lpstr>
      <vt:lpstr>EE4530 – Lecture 11</vt:lpstr>
      <vt:lpstr>EE4530 – Lecture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Information (revised)</dc:title>
  <dc:creator>Foo Yi Shyh Eddy (Dr)</dc:creator>
  <cp:lastModifiedBy>Foo Yi Shyh Eddy (Dr)</cp:lastModifiedBy>
  <cp:revision>427</cp:revision>
  <cp:lastPrinted>2021-04-06T10:09:15Z</cp:lastPrinted>
  <dcterms:created xsi:type="dcterms:W3CDTF">2017-01-13T06:00:32Z</dcterms:created>
  <dcterms:modified xsi:type="dcterms:W3CDTF">2021-08-03T05:08:44Z</dcterms:modified>
</cp:coreProperties>
</file>